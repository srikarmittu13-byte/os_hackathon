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8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418320" y="548640"/>
            <a:ext cx="2011680" cy="2011680"/>
          </a:xfrm>
          <a:prstGeom prst="ellipse">
            <a:avLst/>
          </a:prstGeom>
          <a:solidFill>
            <a:srgbClr val="143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149840" y="1554480"/>
            <a:ext cx="1280160" cy="1280160"/>
          </a:xfrm>
          <a:prstGeom prst="ellipse">
            <a:avLst/>
          </a:prstGeom>
          <a:solidFill>
            <a:srgbClr val="175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869680" y="2286000"/>
            <a:ext cx="914400" cy="914400"/>
          </a:xfrm>
          <a:prstGeom prst="ellipse">
            <a:avLst/>
          </a:prstGeom>
          <a:solidFill>
            <a:srgbClr val="1C69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914400"/>
            <a:ext cx="7772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  <a:defRPr sz="1300" b="1">
                <a:solidFill>
                  <a:srgbClr val="2AD3B0"/>
                </a:solidFill>
                <a:latin typeface="Aptos"/>
              </a:defRPr>
            </a:pPr>
            <a:r>
              <a:t>SYSTEM MONITORING • LIVE DASHBOARD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645920"/>
            <a:ext cx="804672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  <a:defRPr sz="4600" b="1">
                <a:solidFill>
                  <a:srgbClr val="F5F8FF"/>
                </a:solidFill>
                <a:latin typeface="Aptos"/>
              </a:defRPr>
            </a:pPr>
            <a:r>
              <a:t>SysAlert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2788920"/>
            <a:ext cx="768096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  <a:defRPr sz="2500" b="1">
                <a:solidFill>
                  <a:srgbClr val="B7C5DC"/>
                </a:solidFill>
                <a:latin typeface="Aptos"/>
              </a:defRPr>
            </a:pPr>
            <a:r>
              <a:t>System Resource Alert &amp; Notification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069080"/>
            <a:ext cx="70408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  <a:defRPr sz="1800" b="0">
                <a:solidFill>
                  <a:srgbClr val="F5F8FF"/>
                </a:solidFill>
                <a:latin typeface="Aptos"/>
              </a:defRPr>
            </a:pPr>
            <a:r>
              <a:t>A real-time monitoring tool that tracks system resources, detects threshold breaches, and displays alerts through a web dashboard.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98932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  <a:defRPr sz="1200" b="0">
                <a:solidFill>
                  <a:srgbClr val="B7C5DC"/>
                </a:solidFill>
                <a:latin typeface="Aptos"/>
              </a:defRPr>
            </a:pPr>
            <a:r>
              <a:t>Project Presentation  |  Name: __________  |  Class/Section: __________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8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  <a:defRPr sz="2800" b="1">
                <a:solidFill>
                  <a:srgbClr val="F5F8FF"/>
                </a:solidFill>
                <a:latin typeface="Aptos"/>
              </a:defRPr>
            </a:pPr>
            <a:r>
              <a:t>01  Problem Statement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32688"/>
            <a:ext cx="914400" cy="50292"/>
          </a:xfrm>
          <a:prstGeom prst="rect">
            <a:avLst/>
          </a:prstGeom>
          <a:solidFill>
            <a:srgbClr val="2AD3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051560"/>
            <a:ext cx="10972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  <a:defRPr sz="1200" b="0">
                <a:solidFill>
                  <a:srgbClr val="B7C5DC"/>
                </a:solidFill>
                <a:latin typeface="Aptos"/>
              </a:defRPr>
            </a:pPr>
            <a:r>
              <a:t>Why system resource monitoring is needed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73952"/>
            <a:ext cx="4114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700"/>
              </a:spcAft>
              <a:defRPr sz="1000" b="0">
                <a:solidFill>
                  <a:srgbClr val="B7C5DC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91640"/>
            <a:ext cx="3520440" cy="1828800"/>
          </a:xfrm>
          <a:prstGeom prst="roundRect">
            <a:avLst/>
          </a:prstGeom>
          <a:solidFill>
            <a:srgbClr val="172743"/>
          </a:solidFill>
          <a:ln>
            <a:solidFill>
              <a:srgbClr val="2A3C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801368"/>
            <a:ext cx="50292" cy="1609344"/>
          </a:xfrm>
          <a:prstGeom prst="rect">
            <a:avLst/>
          </a:prstGeom>
          <a:solidFill>
            <a:srgbClr val="FFC2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1856232"/>
            <a:ext cx="31546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  <a:defRPr sz="1700" b="1">
                <a:solidFill>
                  <a:srgbClr val="FFC247"/>
                </a:solidFill>
                <a:latin typeface="Aptos"/>
              </a:defRPr>
            </a:pPr>
            <a:r>
              <a:t>The problem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2313432"/>
            <a:ext cx="3136392" cy="11155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  <a:defRPr sz="1400" b="0">
                <a:solidFill>
                  <a:srgbClr val="F5F8FF"/>
                </a:solidFill>
                <a:latin typeface="Aptos"/>
              </a:defRPr>
            </a:pPr>
            <a:r>
              <a:t>High CPU, memory, swap or disk usage can slow down a computer or service.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691640"/>
            <a:ext cx="3520440" cy="1828800"/>
          </a:xfrm>
          <a:prstGeom prst="roundRect">
            <a:avLst/>
          </a:prstGeom>
          <a:solidFill>
            <a:srgbClr val="172743"/>
          </a:solidFill>
          <a:ln>
            <a:solidFill>
              <a:srgbClr val="2A3C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43400" y="1801368"/>
            <a:ext cx="50292" cy="1609344"/>
          </a:xfrm>
          <a:prstGeom prst="rect">
            <a:avLst/>
          </a:prstGeom>
          <a:solidFill>
            <a:srgbClr val="64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44568" y="1856232"/>
            <a:ext cx="31546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  <a:defRPr sz="1700" b="1">
                <a:solidFill>
                  <a:srgbClr val="64A0FF"/>
                </a:solidFill>
                <a:latin typeface="Aptos"/>
              </a:defRPr>
            </a:pPr>
            <a:r>
              <a:t>The gap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44568" y="2313432"/>
            <a:ext cx="3136392" cy="11155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  <a:defRPr sz="1400" b="0">
                <a:solidFill>
                  <a:srgbClr val="F5F8FF"/>
                </a:solidFill>
                <a:latin typeface="Aptos"/>
              </a:defRPr>
            </a:pPr>
            <a:r>
              <a:t>Manual checking does not continuously track changes or highlight problems early.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691640"/>
            <a:ext cx="3520440" cy="1828800"/>
          </a:xfrm>
          <a:prstGeom prst="roundRect">
            <a:avLst/>
          </a:prstGeom>
          <a:solidFill>
            <a:srgbClr val="172743"/>
          </a:solidFill>
          <a:ln>
            <a:solidFill>
              <a:srgbClr val="2A3C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46720" y="1801368"/>
            <a:ext cx="50292" cy="1609344"/>
          </a:xfrm>
          <a:prstGeom prst="rect">
            <a:avLst/>
          </a:prstGeom>
          <a:solidFill>
            <a:srgbClr val="2AD3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47888" y="1856232"/>
            <a:ext cx="31546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  <a:defRPr sz="1700" b="1">
                <a:solidFill>
                  <a:srgbClr val="2AD3B0"/>
                </a:solidFill>
                <a:latin typeface="Aptos"/>
              </a:defRPr>
            </a:pPr>
            <a:r>
              <a:t>Our solution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47888" y="2313432"/>
            <a:ext cx="3136392" cy="11155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  <a:defRPr sz="1400" b="0">
                <a:solidFill>
                  <a:srgbClr val="F5F8FF"/>
                </a:solidFill>
                <a:latin typeface="Aptos"/>
              </a:defRPr>
            </a:pPr>
            <a:r>
              <a:t>SysAlert monitors usage automatically and raises clear WARNING or CRITICAL alerts.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4069080"/>
            <a:ext cx="10424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  <a:defRPr sz="2000" b="1">
                <a:solidFill>
                  <a:srgbClr val="2AD3B0"/>
                </a:solidFill>
                <a:latin typeface="Aptos"/>
              </a:defRPr>
            </a:pPr>
            <a:r>
              <a:t>Project objective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4572000"/>
            <a:ext cx="103327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  <a:defRPr sz="2100" b="0">
                <a:solidFill>
                  <a:srgbClr val="F5F8FF"/>
                </a:solidFill>
                <a:latin typeface="Aptos"/>
              </a:defRPr>
            </a:pPr>
            <a:r>
              <a:t>Build a lightweight monitoring system that helps users understand current system health, identify resource-heavy processes, and review recent trends from one dashboard.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8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  <a:defRPr sz="2800" b="1">
                <a:solidFill>
                  <a:srgbClr val="F5F8FF"/>
                </a:solidFill>
                <a:latin typeface="Aptos"/>
              </a:defRPr>
            </a:pPr>
            <a:r>
              <a:t>02  Objectives &amp; Scope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32688"/>
            <a:ext cx="914400" cy="50292"/>
          </a:xfrm>
          <a:prstGeom prst="rect">
            <a:avLst/>
          </a:prstGeom>
          <a:solidFill>
            <a:srgbClr val="2AD3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051560"/>
            <a:ext cx="10972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  <a:defRPr sz="1200" b="0">
                <a:solidFill>
                  <a:srgbClr val="B7C5DC"/>
                </a:solidFill>
                <a:latin typeface="Aptos"/>
              </a:defRPr>
            </a:pPr>
            <a:r>
              <a:t>What SysAlert monitors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73952"/>
            <a:ext cx="4114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700"/>
              </a:spcAft>
              <a:defRPr sz="1000" b="0">
                <a:solidFill>
                  <a:srgbClr val="B7C5DC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91640"/>
            <a:ext cx="3520440" cy="1600200"/>
          </a:xfrm>
          <a:prstGeom prst="roundRect">
            <a:avLst/>
          </a:prstGeom>
          <a:solidFill>
            <a:srgbClr val="172743"/>
          </a:solidFill>
          <a:ln>
            <a:solidFill>
              <a:srgbClr val="2A3C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801368"/>
            <a:ext cx="50292" cy="1380744"/>
          </a:xfrm>
          <a:prstGeom prst="rect">
            <a:avLst/>
          </a:prstGeom>
          <a:solidFill>
            <a:srgbClr val="2AD3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1856232"/>
            <a:ext cx="31546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  <a:defRPr sz="1600" b="1">
                <a:solidFill>
                  <a:srgbClr val="2AD3B0"/>
                </a:solidFill>
                <a:latin typeface="Aptos"/>
              </a:defRPr>
            </a:pPr>
            <a:r>
              <a:t>CPU usage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2313432"/>
            <a:ext cx="3136392" cy="8869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  <a:defRPr sz="1400" b="0">
                <a:solidFill>
                  <a:srgbClr val="F5F8FF"/>
                </a:solidFill>
                <a:latin typeface="Aptos"/>
              </a:defRPr>
            </a:pPr>
            <a:r>
              <a:t>Overall processor utilization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691640"/>
            <a:ext cx="3520440" cy="1600200"/>
          </a:xfrm>
          <a:prstGeom prst="roundRect">
            <a:avLst/>
          </a:prstGeom>
          <a:solidFill>
            <a:srgbClr val="172743"/>
          </a:solidFill>
          <a:ln>
            <a:solidFill>
              <a:srgbClr val="2A3C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34840" y="1801368"/>
            <a:ext cx="50292" cy="1380744"/>
          </a:xfrm>
          <a:prstGeom prst="rect">
            <a:avLst/>
          </a:prstGeom>
          <a:solidFill>
            <a:srgbClr val="64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36008" y="1856232"/>
            <a:ext cx="31546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  <a:defRPr sz="1600" b="1">
                <a:solidFill>
                  <a:srgbClr val="64A0FF"/>
                </a:solidFill>
                <a:latin typeface="Aptos"/>
              </a:defRPr>
            </a:pPr>
            <a:r>
              <a:t>Memory &amp; swap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36008" y="2313432"/>
            <a:ext cx="3136392" cy="8869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  <a:defRPr sz="1400" b="0">
                <a:solidFill>
                  <a:srgbClr val="F5F8FF"/>
                </a:solidFill>
                <a:latin typeface="Aptos"/>
              </a:defRPr>
            </a:pPr>
            <a:r>
              <a:t>RAM and swap utilization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1691640"/>
            <a:ext cx="3520440" cy="1600200"/>
          </a:xfrm>
          <a:prstGeom prst="roundRect">
            <a:avLst/>
          </a:prstGeom>
          <a:solidFill>
            <a:srgbClr val="172743"/>
          </a:solidFill>
          <a:ln>
            <a:solidFill>
              <a:srgbClr val="2A3C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0" y="1801368"/>
            <a:ext cx="50292" cy="1380744"/>
          </a:xfrm>
          <a:prstGeom prst="rect">
            <a:avLst/>
          </a:prstGeom>
          <a:solidFill>
            <a:srgbClr val="FFC2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30768" y="1856232"/>
            <a:ext cx="31546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  <a:defRPr sz="1600" b="1">
                <a:solidFill>
                  <a:srgbClr val="FFC247"/>
                </a:solidFill>
                <a:latin typeface="Aptos"/>
              </a:defRPr>
            </a:pPr>
            <a:r>
              <a:t>Disk usage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30768" y="2313432"/>
            <a:ext cx="3136392" cy="8869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  <a:defRPr sz="1400" b="0">
                <a:solidFill>
                  <a:srgbClr val="F5F8FF"/>
                </a:solidFill>
                <a:latin typeface="Aptos"/>
              </a:defRPr>
            </a:pPr>
            <a:r>
              <a:t>Used storage percentage for configured paths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3657600"/>
            <a:ext cx="3520440" cy="1600200"/>
          </a:xfrm>
          <a:prstGeom prst="roundRect">
            <a:avLst/>
          </a:prstGeom>
          <a:solidFill>
            <a:srgbClr val="172743"/>
          </a:solidFill>
          <a:ln>
            <a:solidFill>
              <a:srgbClr val="2A3C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" y="3767328"/>
            <a:ext cx="50292" cy="1380744"/>
          </a:xfrm>
          <a:prstGeom prst="rect">
            <a:avLst/>
          </a:prstGeom>
          <a:solidFill>
            <a:srgbClr val="5CDC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7" y="3822191"/>
            <a:ext cx="31546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  <a:defRPr sz="1600" b="1">
                <a:solidFill>
                  <a:srgbClr val="5CDC9D"/>
                </a:solidFill>
                <a:latin typeface="Aptos"/>
              </a:defRPr>
            </a:pPr>
            <a:r>
              <a:t>Processes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7" y="4279392"/>
            <a:ext cx="3136392" cy="8869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  <a:defRPr sz="1400" b="0">
                <a:solidFill>
                  <a:srgbClr val="F5F8FF"/>
                </a:solidFill>
                <a:latin typeface="Aptos"/>
              </a:defRPr>
            </a:pPr>
            <a:r>
              <a:t>Process count and top CPU/RAM consumers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34840" y="3657600"/>
            <a:ext cx="3520440" cy="1600200"/>
          </a:xfrm>
          <a:prstGeom prst="roundRect">
            <a:avLst/>
          </a:prstGeom>
          <a:solidFill>
            <a:srgbClr val="172743"/>
          </a:solidFill>
          <a:ln>
            <a:solidFill>
              <a:srgbClr val="2A3C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34840" y="3767328"/>
            <a:ext cx="50292" cy="1380744"/>
          </a:xfrm>
          <a:prstGeom prst="rect">
            <a:avLst/>
          </a:prstGeom>
          <a:solidFill>
            <a:srgbClr val="FF67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36008" y="3822191"/>
            <a:ext cx="31546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  <a:defRPr sz="1600" b="1">
                <a:solidFill>
                  <a:srgbClr val="FF6775"/>
                </a:solidFill>
                <a:latin typeface="Aptos"/>
              </a:defRPr>
            </a:pPr>
            <a:r>
              <a:t>Alerts &amp; history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36008" y="4279392"/>
            <a:ext cx="3136392" cy="8869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  <a:defRPr sz="1400" b="0">
                <a:solidFill>
                  <a:srgbClr val="F5F8FF"/>
                </a:solidFill>
                <a:latin typeface="Aptos"/>
              </a:defRPr>
            </a:pPr>
            <a:r>
              <a:t>Threshold alerts, CSV metrics, alert log and charts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29600" y="3657600"/>
            <a:ext cx="3520440" cy="1600200"/>
          </a:xfrm>
          <a:prstGeom prst="roundRect">
            <a:avLst/>
          </a:prstGeom>
          <a:solidFill>
            <a:srgbClr val="172743"/>
          </a:solidFill>
          <a:ln>
            <a:solidFill>
              <a:srgbClr val="2A3C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229600" y="3767328"/>
            <a:ext cx="50292" cy="1380744"/>
          </a:xfrm>
          <a:prstGeom prst="rect">
            <a:avLst/>
          </a:prstGeom>
          <a:solidFill>
            <a:srgbClr val="2AD3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30768" y="3822191"/>
            <a:ext cx="31546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  <a:defRPr sz="1600" b="1">
                <a:solidFill>
                  <a:srgbClr val="2AD3B0"/>
                </a:solidFill>
                <a:latin typeface="Aptos"/>
              </a:defRPr>
            </a:pPr>
            <a:r>
              <a:t>Live dashboard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30768" y="4279392"/>
            <a:ext cx="3136392" cy="8869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  <a:defRPr sz="1400" b="0">
                <a:solidFill>
                  <a:srgbClr val="F5F8FF"/>
                </a:solidFill>
                <a:latin typeface="Aptos"/>
              </a:defRPr>
            </a:pPr>
            <a:r>
              <a:t>Current status, trend charts, process table and settings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8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  <a:defRPr sz="2800" b="1">
                <a:solidFill>
                  <a:srgbClr val="F5F8FF"/>
                </a:solidFill>
                <a:latin typeface="Aptos"/>
              </a:defRPr>
            </a:pPr>
            <a:r>
              <a:t>03  System Design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32688"/>
            <a:ext cx="914400" cy="50292"/>
          </a:xfrm>
          <a:prstGeom prst="rect">
            <a:avLst/>
          </a:prstGeom>
          <a:solidFill>
            <a:srgbClr val="2AD3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051560"/>
            <a:ext cx="10972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  <a:defRPr sz="1200" b="0">
                <a:solidFill>
                  <a:srgbClr val="B7C5DC"/>
                </a:solidFill>
                <a:latin typeface="Aptos"/>
              </a:defRPr>
            </a:pPr>
            <a:r>
              <a:t>Data flows from the operating system to the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73952"/>
            <a:ext cx="4114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700"/>
              </a:spcAft>
              <a:defRPr sz="1000" b="0">
                <a:solidFill>
                  <a:srgbClr val="B7C5DC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2057400"/>
            <a:ext cx="2057400" cy="1051560"/>
          </a:xfrm>
          <a:prstGeom prst="roundRect">
            <a:avLst/>
          </a:prstGeom>
          <a:solidFill>
            <a:srgbClr val="172743"/>
          </a:solidFill>
          <a:ln>
            <a:solidFill>
              <a:srgbClr val="2A3C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2167128"/>
            <a:ext cx="50292" cy="832103"/>
          </a:xfrm>
          <a:prstGeom prst="rect">
            <a:avLst/>
          </a:prstGeom>
          <a:solidFill>
            <a:srgbClr val="64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8" y="2221992"/>
            <a:ext cx="16916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  <a:defRPr sz="1500" b="1">
                <a:solidFill>
                  <a:srgbClr val="64A0FF"/>
                </a:solidFill>
                <a:latin typeface="Aptos"/>
              </a:defRPr>
            </a:pPr>
            <a:r>
              <a:t>Operating System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8" y="2679192"/>
            <a:ext cx="1673352" cy="33832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  <a:defRPr sz="1200" b="0">
                <a:solidFill>
                  <a:srgbClr val="F5F8FF"/>
                </a:solidFill>
                <a:latin typeface="Aptos"/>
              </a:defRPr>
            </a:pPr>
            <a:r>
              <a:t>CPU • RAM • Disk</a:t>
            </a:r>
          </a:p>
          <a:p>
            <a:pPr algn="l">
              <a:spcAft>
                <a:spcPts val="700"/>
              </a:spcAft>
              <a:defRPr sz="1200" b="0">
                <a:solidFill>
                  <a:srgbClr val="F5F8FF"/>
                </a:solidFill>
                <a:latin typeface="Aptos"/>
              </a:defRPr>
            </a:pPr>
            <a:r>
              <a:t>Processes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154680" y="2057400"/>
            <a:ext cx="2057400" cy="1051560"/>
          </a:xfrm>
          <a:prstGeom prst="roundRect">
            <a:avLst/>
          </a:prstGeom>
          <a:solidFill>
            <a:srgbClr val="172743"/>
          </a:solidFill>
          <a:ln>
            <a:solidFill>
              <a:srgbClr val="2A3C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154680" y="2167128"/>
            <a:ext cx="50292" cy="832103"/>
          </a:xfrm>
          <a:prstGeom prst="rect">
            <a:avLst/>
          </a:prstGeom>
          <a:solidFill>
            <a:srgbClr val="2AD3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55848" y="2221992"/>
            <a:ext cx="16916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  <a:defRPr sz="1500" b="1">
                <a:solidFill>
                  <a:srgbClr val="2AD3B0"/>
                </a:solidFill>
                <a:latin typeface="Aptos"/>
              </a:defRPr>
            </a:pPr>
            <a:r>
              <a:t>Collectors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55848" y="2679192"/>
            <a:ext cx="1673352" cy="33832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  <a:defRPr sz="1200" b="0">
                <a:solidFill>
                  <a:srgbClr val="F5F8FF"/>
                </a:solidFill>
                <a:latin typeface="Aptos"/>
              </a:defRPr>
            </a:pPr>
            <a:r>
              <a:t>psutil reads</a:t>
            </a:r>
          </a:p>
          <a:p>
            <a:pPr algn="l">
              <a:spcAft>
                <a:spcPts val="700"/>
              </a:spcAft>
              <a:defRPr sz="1200" b="0">
                <a:solidFill>
                  <a:srgbClr val="F5F8FF"/>
                </a:solidFill>
                <a:latin typeface="Aptos"/>
              </a:defRPr>
            </a:pPr>
            <a:r>
              <a:t>system metrics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715000" y="2057400"/>
            <a:ext cx="2057400" cy="1051560"/>
          </a:xfrm>
          <a:prstGeom prst="roundRect">
            <a:avLst/>
          </a:prstGeom>
          <a:solidFill>
            <a:srgbClr val="172743"/>
          </a:solidFill>
          <a:ln>
            <a:solidFill>
              <a:srgbClr val="2A3C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715000" y="2167128"/>
            <a:ext cx="50292" cy="832103"/>
          </a:xfrm>
          <a:prstGeom prst="rect">
            <a:avLst/>
          </a:prstGeom>
          <a:solidFill>
            <a:srgbClr val="FFC2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16168" y="2221992"/>
            <a:ext cx="16916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  <a:defRPr sz="1500" b="1">
                <a:solidFill>
                  <a:srgbClr val="FFC247"/>
                </a:solidFill>
                <a:latin typeface="Aptos"/>
              </a:defRPr>
            </a:pPr>
            <a:r>
              <a:t>Alert Engine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16168" y="2679192"/>
            <a:ext cx="1673352" cy="33832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  <a:defRPr sz="1200" b="0">
                <a:solidFill>
                  <a:srgbClr val="F5F8FF"/>
                </a:solidFill>
                <a:latin typeface="Aptos"/>
              </a:defRPr>
            </a:pPr>
            <a:r>
              <a:t>Rules • thresholds</a:t>
            </a:r>
          </a:p>
          <a:p>
            <a:pPr algn="l">
              <a:spcAft>
                <a:spcPts val="700"/>
              </a:spcAft>
              <a:defRPr sz="1200" b="0">
                <a:solidFill>
                  <a:srgbClr val="F5F8FF"/>
                </a:solidFill>
                <a:latin typeface="Aptos"/>
              </a:defRPr>
            </a:pPr>
            <a:r>
              <a:t>sustained breaches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75320" y="2057400"/>
            <a:ext cx="2057400" cy="1051560"/>
          </a:xfrm>
          <a:prstGeom prst="roundRect">
            <a:avLst/>
          </a:prstGeom>
          <a:solidFill>
            <a:srgbClr val="172743"/>
          </a:solidFill>
          <a:ln>
            <a:solidFill>
              <a:srgbClr val="2A3C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275320" y="2167128"/>
            <a:ext cx="50292" cy="832103"/>
          </a:xfrm>
          <a:prstGeom prst="rect">
            <a:avLst/>
          </a:prstGeom>
          <a:solidFill>
            <a:srgbClr val="5CDC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76488" y="2221992"/>
            <a:ext cx="16916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  <a:defRPr sz="1500" b="1">
                <a:solidFill>
                  <a:srgbClr val="5CDC9D"/>
                </a:solidFill>
                <a:latin typeface="Aptos"/>
              </a:defRPr>
            </a:pPr>
            <a:r>
              <a:t>FastAPI Backend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76488" y="2679192"/>
            <a:ext cx="1673352" cy="33832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  <a:defRPr sz="1200" b="0">
                <a:solidFill>
                  <a:srgbClr val="F5F8FF"/>
                </a:solidFill>
                <a:latin typeface="Aptos"/>
              </a:defRPr>
            </a:pPr>
            <a:r>
              <a:t>REST endpoints</a:t>
            </a:r>
          </a:p>
          <a:p>
            <a:pPr algn="l">
              <a:spcAft>
                <a:spcPts val="700"/>
              </a:spcAft>
              <a:defRPr sz="1200" b="0">
                <a:solidFill>
                  <a:srgbClr val="F5F8FF"/>
                </a:solidFill>
                <a:latin typeface="Aptos"/>
              </a:defRPr>
            </a:pPr>
            <a:r>
              <a:t>history + alerts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75320" y="4069080"/>
            <a:ext cx="2057400" cy="1051560"/>
          </a:xfrm>
          <a:prstGeom prst="roundRect">
            <a:avLst/>
          </a:prstGeom>
          <a:solidFill>
            <a:srgbClr val="172743"/>
          </a:solidFill>
          <a:ln>
            <a:solidFill>
              <a:srgbClr val="2A3C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275320" y="4178808"/>
            <a:ext cx="50292" cy="832103"/>
          </a:xfrm>
          <a:prstGeom prst="rect">
            <a:avLst/>
          </a:prstGeom>
          <a:solidFill>
            <a:srgbClr val="2AD3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76488" y="4233672"/>
            <a:ext cx="16916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  <a:defRPr sz="1500" b="1">
                <a:solidFill>
                  <a:srgbClr val="2AD3B0"/>
                </a:solidFill>
                <a:latin typeface="Aptos"/>
              </a:defRPr>
            </a:pPr>
            <a:r>
              <a:t>React Dashboard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76488" y="4690872"/>
            <a:ext cx="1673352" cy="33832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  <a:defRPr sz="1200" b="0">
                <a:solidFill>
                  <a:srgbClr val="F5F8FF"/>
                </a:solidFill>
                <a:latin typeface="Aptos"/>
              </a:defRPr>
            </a:pPr>
            <a:r>
              <a:t>Live cards • charts</a:t>
            </a:r>
          </a:p>
          <a:p>
            <a:pPr algn="l">
              <a:spcAft>
                <a:spcPts val="700"/>
              </a:spcAft>
              <a:defRPr sz="1200" b="0">
                <a:solidFill>
                  <a:srgbClr val="F5F8FF"/>
                </a:solidFill>
                <a:latin typeface="Aptos"/>
              </a:defRPr>
            </a:pPr>
            <a:r>
              <a:t>alerts • processes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394960" y="4069080"/>
            <a:ext cx="2331720" cy="1051560"/>
          </a:xfrm>
          <a:prstGeom prst="roundRect">
            <a:avLst/>
          </a:prstGeom>
          <a:solidFill>
            <a:srgbClr val="172743"/>
          </a:solidFill>
          <a:ln>
            <a:solidFill>
              <a:srgbClr val="2A3C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394960" y="4178808"/>
            <a:ext cx="50292" cy="832103"/>
          </a:xfrm>
          <a:prstGeom prst="rect">
            <a:avLst/>
          </a:prstGeom>
          <a:solidFill>
            <a:srgbClr val="64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596128" y="4233672"/>
            <a:ext cx="19659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  <a:defRPr sz="1500" b="1">
                <a:solidFill>
                  <a:srgbClr val="64A0FF"/>
                </a:solidFill>
                <a:latin typeface="Aptos"/>
              </a:defRPr>
            </a:pPr>
            <a:r>
              <a:t>Logs &amp; History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596128" y="4690872"/>
            <a:ext cx="1947672" cy="33832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  <a:defRPr sz="1200" b="0">
                <a:solidFill>
                  <a:srgbClr val="F5F8FF"/>
                </a:solidFill>
                <a:latin typeface="Aptos"/>
              </a:defRPr>
            </a:pPr>
            <a:r>
              <a:t>CSV metrics</a:t>
            </a:r>
          </a:p>
          <a:p>
            <a:pPr algn="l">
              <a:spcAft>
                <a:spcPts val="700"/>
              </a:spcAft>
              <a:defRPr sz="1200" b="0">
                <a:solidFill>
                  <a:srgbClr val="F5F8FF"/>
                </a:solidFill>
                <a:latin typeface="Aptos"/>
              </a:defRPr>
            </a:pPr>
            <a:r>
              <a:t>JSON-lines alerts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2651760" y="2578608"/>
            <a:ext cx="502920" cy="0"/>
          </a:xfrm>
          <a:prstGeom prst="line">
            <a:avLst/>
          </a:prstGeom>
          <a:ln w="25400">
            <a:solidFill>
              <a:srgbClr val="2AD3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212080" y="2578608"/>
            <a:ext cx="502920" cy="0"/>
          </a:xfrm>
          <a:prstGeom prst="line">
            <a:avLst/>
          </a:prstGeom>
          <a:ln w="25400">
            <a:solidFill>
              <a:srgbClr val="2AD3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7772400" y="2578608"/>
            <a:ext cx="502920" cy="0"/>
          </a:xfrm>
          <a:prstGeom prst="line">
            <a:avLst/>
          </a:prstGeom>
          <a:ln w="25400">
            <a:solidFill>
              <a:srgbClr val="2AD3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9308592" y="3108960"/>
            <a:ext cx="0" cy="960120"/>
          </a:xfrm>
          <a:prstGeom prst="line">
            <a:avLst/>
          </a:prstGeom>
          <a:ln w="25400">
            <a:solidFill>
              <a:srgbClr val="2AD3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H="1">
            <a:off x="6537960" y="3108960"/>
            <a:ext cx="182880" cy="960120"/>
          </a:xfrm>
          <a:prstGeom prst="line">
            <a:avLst/>
          </a:prstGeom>
          <a:ln w="25400">
            <a:solidFill>
              <a:srgbClr val="2AD3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731520" y="5715000"/>
            <a:ext cx="10789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  <a:defRPr sz="1300" b="0">
                <a:solidFill>
                  <a:srgbClr val="B7C5DC"/>
                </a:solidFill>
                <a:latin typeface="Aptos"/>
              </a:defRPr>
            </a:pPr>
            <a:r>
              <a:t>The dashboard polls the local API every 3 seconds; the backend samples system metrics every 5 seconds by default.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8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  <a:defRPr sz="2800" b="1">
                <a:solidFill>
                  <a:srgbClr val="F5F8FF"/>
                </a:solidFill>
                <a:latin typeface="Aptos"/>
              </a:defRPr>
            </a:pPr>
            <a:r>
              <a:t>04  Implementation Approach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32688"/>
            <a:ext cx="914400" cy="50292"/>
          </a:xfrm>
          <a:prstGeom prst="rect">
            <a:avLst/>
          </a:prstGeom>
          <a:solidFill>
            <a:srgbClr val="2AD3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051560"/>
            <a:ext cx="10972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  <a:defRPr sz="1200" b="0">
                <a:solidFill>
                  <a:srgbClr val="B7C5DC"/>
                </a:solidFill>
                <a:latin typeface="Aptos"/>
              </a:defRPr>
            </a:pPr>
            <a:r>
              <a:t>Main modules and how they work together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73952"/>
            <a:ext cx="4114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700"/>
              </a:spcAft>
              <a:defRPr sz="1000" b="0">
                <a:solidFill>
                  <a:srgbClr val="B7C5DC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91640"/>
            <a:ext cx="3520440" cy="1874519"/>
          </a:xfrm>
          <a:prstGeom prst="roundRect">
            <a:avLst/>
          </a:prstGeom>
          <a:solidFill>
            <a:srgbClr val="172743"/>
          </a:solidFill>
          <a:ln>
            <a:solidFill>
              <a:srgbClr val="2A3C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801368"/>
            <a:ext cx="50292" cy="1655063"/>
          </a:xfrm>
          <a:prstGeom prst="rect">
            <a:avLst/>
          </a:prstGeom>
          <a:solidFill>
            <a:srgbClr val="2AD3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1856232"/>
            <a:ext cx="31546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  <a:defRPr sz="1700" b="1">
                <a:solidFill>
                  <a:srgbClr val="2AD3B0"/>
                </a:solidFill>
                <a:latin typeface="Aptos"/>
              </a:defRPr>
            </a:pPr>
            <a:r>
              <a:t>1. Collect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2313432"/>
            <a:ext cx="3136392" cy="11612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  <a:defRPr sz="1400" b="0">
                <a:solidFill>
                  <a:srgbClr val="F5F8FF"/>
                </a:solidFill>
                <a:latin typeface="Aptos"/>
              </a:defRPr>
            </a:pPr>
            <a:r>
              <a:t>Use psutil to read CPU, memory, swap, disk and process details.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691640"/>
            <a:ext cx="3520440" cy="1874519"/>
          </a:xfrm>
          <a:prstGeom prst="roundRect">
            <a:avLst/>
          </a:prstGeom>
          <a:solidFill>
            <a:srgbClr val="172743"/>
          </a:solidFill>
          <a:ln>
            <a:solidFill>
              <a:srgbClr val="2A3C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43400" y="1801368"/>
            <a:ext cx="50292" cy="1655063"/>
          </a:xfrm>
          <a:prstGeom prst="rect">
            <a:avLst/>
          </a:prstGeom>
          <a:solidFill>
            <a:srgbClr val="FFC2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44568" y="1856232"/>
            <a:ext cx="31546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  <a:defRPr sz="1700" b="1">
                <a:solidFill>
                  <a:srgbClr val="FFC247"/>
                </a:solidFill>
                <a:latin typeface="Aptos"/>
              </a:defRPr>
            </a:pPr>
            <a:r>
              <a:t>2. Evaluate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44568" y="2313432"/>
            <a:ext cx="3136392" cy="11612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  <a:defRPr sz="1400" b="0">
                <a:solidFill>
                  <a:srgbClr val="F5F8FF"/>
                </a:solidFill>
                <a:latin typeface="Aptos"/>
              </a:defRPr>
            </a:pPr>
            <a:r>
              <a:t>Apply configurable warning/critical thresholds and consecutive-sample checks.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691640"/>
            <a:ext cx="3520440" cy="1874519"/>
          </a:xfrm>
          <a:prstGeom prst="roundRect">
            <a:avLst/>
          </a:prstGeom>
          <a:solidFill>
            <a:srgbClr val="172743"/>
          </a:solidFill>
          <a:ln>
            <a:solidFill>
              <a:srgbClr val="2A3C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46720" y="1801368"/>
            <a:ext cx="50292" cy="1655063"/>
          </a:xfrm>
          <a:prstGeom prst="rect">
            <a:avLst/>
          </a:prstGeom>
          <a:solidFill>
            <a:srgbClr val="FF67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47888" y="1856232"/>
            <a:ext cx="31546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  <a:defRPr sz="1700" b="1">
                <a:solidFill>
                  <a:srgbClr val="FF6775"/>
                </a:solidFill>
                <a:latin typeface="Aptos"/>
              </a:defRPr>
            </a:pPr>
            <a:r>
              <a:t>3. Notify &amp; record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47888" y="2313432"/>
            <a:ext cx="3136392" cy="11612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  <a:defRPr sz="1400" b="0">
                <a:solidFill>
                  <a:srgbClr val="F5F8FF"/>
                </a:solidFill>
                <a:latin typeface="Aptos"/>
              </a:defRPr>
            </a:pPr>
            <a:r>
              <a:t>Create alerts, apply cooldowns, and save alert events and metric history.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514600" y="3886200"/>
            <a:ext cx="3520440" cy="1645920"/>
          </a:xfrm>
          <a:prstGeom prst="roundRect">
            <a:avLst/>
          </a:prstGeom>
          <a:solidFill>
            <a:srgbClr val="172743"/>
          </a:solidFill>
          <a:ln>
            <a:solidFill>
              <a:srgbClr val="2A3C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514600" y="3995928"/>
            <a:ext cx="50292" cy="1426464"/>
          </a:xfrm>
          <a:prstGeom prst="rect">
            <a:avLst/>
          </a:prstGeom>
          <a:solidFill>
            <a:srgbClr val="64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15768" y="4050791"/>
            <a:ext cx="31546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  <a:defRPr sz="1700" b="1">
                <a:solidFill>
                  <a:srgbClr val="64A0FF"/>
                </a:solidFill>
                <a:latin typeface="Aptos"/>
              </a:defRPr>
            </a:pPr>
            <a:r>
              <a:t>4. Serve data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15768" y="4507992"/>
            <a:ext cx="3136392" cy="9326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  <a:defRPr sz="1400" b="0">
                <a:solidFill>
                  <a:srgbClr val="F5F8FF"/>
                </a:solidFill>
                <a:latin typeface="Aptos"/>
              </a:defRPr>
            </a:pPr>
            <a:r>
              <a:t>FastAPI exposes current metrics, history, configuration and alerts.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0" y="3886200"/>
            <a:ext cx="3520440" cy="1645920"/>
          </a:xfrm>
          <a:prstGeom prst="roundRect">
            <a:avLst/>
          </a:prstGeom>
          <a:solidFill>
            <a:srgbClr val="172743"/>
          </a:solidFill>
          <a:ln>
            <a:solidFill>
              <a:srgbClr val="2A3C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17920" y="3995928"/>
            <a:ext cx="50292" cy="1426464"/>
          </a:xfrm>
          <a:prstGeom prst="rect">
            <a:avLst/>
          </a:prstGeom>
          <a:solidFill>
            <a:srgbClr val="5CDC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19088" y="4050791"/>
            <a:ext cx="31546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  <a:defRPr sz="1700" b="1">
                <a:solidFill>
                  <a:srgbClr val="5CDC9D"/>
                </a:solidFill>
                <a:latin typeface="Aptos"/>
              </a:defRPr>
            </a:pPr>
            <a:r>
              <a:t>5. Visualize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9088" y="4507992"/>
            <a:ext cx="3136392" cy="9326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  <a:defRPr sz="1400" b="0">
                <a:solidFill>
                  <a:srgbClr val="F5F8FF"/>
                </a:solidFill>
                <a:latin typeface="Aptos"/>
              </a:defRPr>
            </a:pPr>
            <a:r>
              <a:t>React dashboard shows live status, charts, active alerts and top processes.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8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  <a:defRPr sz="2800" b="1">
                <a:solidFill>
                  <a:srgbClr val="F5F8FF"/>
                </a:solidFill>
                <a:latin typeface="Aptos"/>
              </a:defRPr>
            </a:pPr>
            <a:r>
              <a:t>05  Technologies Used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32688"/>
            <a:ext cx="914400" cy="50292"/>
          </a:xfrm>
          <a:prstGeom prst="rect">
            <a:avLst/>
          </a:prstGeom>
          <a:solidFill>
            <a:srgbClr val="2AD3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051560"/>
            <a:ext cx="10972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  <a:defRPr sz="1200" b="0">
                <a:solidFill>
                  <a:srgbClr val="B7C5DC"/>
                </a:solidFill>
                <a:latin typeface="Aptos"/>
              </a:defRPr>
            </a:pPr>
            <a:r>
              <a:t>Selected tools from the project 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73952"/>
            <a:ext cx="4114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700"/>
              </a:spcAft>
              <a:defRPr sz="1000" b="0">
                <a:solidFill>
                  <a:srgbClr val="B7C5DC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00200"/>
            <a:ext cx="5349240" cy="868680"/>
          </a:xfrm>
          <a:prstGeom prst="roundRect">
            <a:avLst/>
          </a:prstGeom>
          <a:solidFill>
            <a:srgbClr val="172743"/>
          </a:solidFill>
          <a:ln>
            <a:solidFill>
              <a:srgbClr val="2A3C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709928"/>
            <a:ext cx="50292" cy="649224"/>
          </a:xfrm>
          <a:prstGeom prst="rect">
            <a:avLst/>
          </a:prstGeom>
          <a:solidFill>
            <a:srgbClr val="2AD3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1764792"/>
            <a:ext cx="4983479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  <a:defRPr sz="1500" b="1">
                <a:solidFill>
                  <a:srgbClr val="2AD3B0"/>
                </a:solidFill>
                <a:latin typeface="Aptos"/>
              </a:defRPr>
            </a:pPr>
            <a:r>
              <a:t>Python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2221992"/>
            <a:ext cx="4965192" cy="15544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  <a:defRPr sz="1100" b="0">
                <a:solidFill>
                  <a:srgbClr val="F5F8FF"/>
                </a:solidFill>
                <a:latin typeface="Aptos"/>
              </a:defRPr>
            </a:pPr>
            <a:r>
              <a:t>Core monitoring logic and background sampling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1600200"/>
            <a:ext cx="5349240" cy="868680"/>
          </a:xfrm>
          <a:prstGeom prst="roundRect">
            <a:avLst/>
          </a:prstGeom>
          <a:solidFill>
            <a:srgbClr val="172743"/>
          </a:solidFill>
          <a:ln>
            <a:solidFill>
              <a:srgbClr val="2A3C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5080" y="1709928"/>
            <a:ext cx="50292" cy="649224"/>
          </a:xfrm>
          <a:prstGeom prst="rect">
            <a:avLst/>
          </a:prstGeom>
          <a:solidFill>
            <a:srgbClr val="64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56248" y="1764792"/>
            <a:ext cx="4983479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  <a:defRPr sz="1500" b="1">
                <a:solidFill>
                  <a:srgbClr val="64A0FF"/>
                </a:solidFill>
                <a:latin typeface="Aptos"/>
              </a:defRPr>
            </a:pPr>
            <a:r>
              <a:t>psutil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56248" y="2221992"/>
            <a:ext cx="4965192" cy="15544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  <a:defRPr sz="1100" b="0">
                <a:solidFill>
                  <a:srgbClr val="F5F8FF"/>
                </a:solidFill>
                <a:latin typeface="Aptos"/>
              </a:defRPr>
            </a:pPr>
            <a:r>
              <a:t>Reads system and process statistics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2697480"/>
            <a:ext cx="5349240" cy="868680"/>
          </a:xfrm>
          <a:prstGeom prst="roundRect">
            <a:avLst/>
          </a:prstGeom>
          <a:solidFill>
            <a:srgbClr val="172743"/>
          </a:solidFill>
          <a:ln>
            <a:solidFill>
              <a:srgbClr val="2A3C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2807208"/>
            <a:ext cx="50292" cy="649224"/>
          </a:xfrm>
          <a:prstGeom prst="rect">
            <a:avLst/>
          </a:prstGeom>
          <a:solidFill>
            <a:srgbClr val="FFC2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7" y="2862072"/>
            <a:ext cx="4983479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  <a:defRPr sz="1500" b="1">
                <a:solidFill>
                  <a:srgbClr val="FFC247"/>
                </a:solidFill>
                <a:latin typeface="Aptos"/>
              </a:defRPr>
            </a:pPr>
            <a:r>
              <a:t>FastAPI + Uvicorn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7" y="3319272"/>
            <a:ext cx="4965192" cy="15544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  <a:defRPr sz="1100" b="0">
                <a:solidFill>
                  <a:srgbClr val="F5F8FF"/>
                </a:solidFill>
                <a:latin typeface="Aptos"/>
              </a:defRPr>
            </a:pPr>
            <a:r>
              <a:t>Local REST API and service runtime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55080" y="2697480"/>
            <a:ext cx="5349240" cy="868680"/>
          </a:xfrm>
          <a:prstGeom prst="roundRect">
            <a:avLst/>
          </a:prstGeom>
          <a:solidFill>
            <a:srgbClr val="172743"/>
          </a:solidFill>
          <a:ln>
            <a:solidFill>
              <a:srgbClr val="2A3C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55080" y="2807208"/>
            <a:ext cx="50292" cy="649224"/>
          </a:xfrm>
          <a:prstGeom prst="rect">
            <a:avLst/>
          </a:prstGeom>
          <a:solidFill>
            <a:srgbClr val="5CDC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56248" y="2862072"/>
            <a:ext cx="4983479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  <a:defRPr sz="1500" b="1">
                <a:solidFill>
                  <a:srgbClr val="5CDC9D"/>
                </a:solidFill>
                <a:latin typeface="Aptos"/>
              </a:defRPr>
            </a:pPr>
            <a:r>
              <a:t>React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56248" y="3319272"/>
            <a:ext cx="4965192" cy="15544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  <a:defRPr sz="1100" b="0">
                <a:solidFill>
                  <a:srgbClr val="F5F8FF"/>
                </a:solidFill>
                <a:latin typeface="Aptos"/>
              </a:defRPr>
            </a:pPr>
            <a:r>
              <a:t>Interactive dashboard UI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3794760"/>
            <a:ext cx="5349240" cy="868680"/>
          </a:xfrm>
          <a:prstGeom prst="roundRect">
            <a:avLst/>
          </a:prstGeom>
          <a:solidFill>
            <a:srgbClr val="172743"/>
          </a:solidFill>
          <a:ln>
            <a:solidFill>
              <a:srgbClr val="2A3C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40080" y="3904488"/>
            <a:ext cx="50292" cy="649224"/>
          </a:xfrm>
          <a:prstGeom prst="rect">
            <a:avLst/>
          </a:prstGeom>
          <a:solidFill>
            <a:srgbClr val="FF67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1247" y="3959352"/>
            <a:ext cx="4983479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  <a:defRPr sz="1500" b="1">
                <a:solidFill>
                  <a:srgbClr val="FF6775"/>
                </a:solidFill>
                <a:latin typeface="Aptos"/>
              </a:defRPr>
            </a:pPr>
            <a:r>
              <a:t>Vite + Tailwind CSS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7" y="4416552"/>
            <a:ext cx="4965192" cy="15544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  <a:defRPr sz="1100" b="0">
                <a:solidFill>
                  <a:srgbClr val="F5F8FF"/>
                </a:solidFill>
                <a:latin typeface="Aptos"/>
              </a:defRPr>
            </a:pPr>
            <a:r>
              <a:t>Frontend development/build and styling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55080" y="3794760"/>
            <a:ext cx="5349240" cy="868680"/>
          </a:xfrm>
          <a:prstGeom prst="roundRect">
            <a:avLst/>
          </a:prstGeom>
          <a:solidFill>
            <a:srgbClr val="172743"/>
          </a:solidFill>
          <a:ln>
            <a:solidFill>
              <a:srgbClr val="2A3C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355080" y="3904488"/>
            <a:ext cx="50292" cy="649224"/>
          </a:xfrm>
          <a:prstGeom prst="rect">
            <a:avLst/>
          </a:prstGeom>
          <a:solidFill>
            <a:srgbClr val="2AD3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56248" y="3959352"/>
            <a:ext cx="4983479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  <a:defRPr sz="1500" b="1">
                <a:solidFill>
                  <a:srgbClr val="2AD3B0"/>
                </a:solidFill>
                <a:latin typeface="Aptos"/>
              </a:defRPr>
            </a:pPr>
            <a:r>
              <a:t>Recharts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56248" y="4416552"/>
            <a:ext cx="4965192" cy="15544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  <a:defRPr sz="1100" b="0">
                <a:solidFill>
                  <a:srgbClr val="F5F8FF"/>
                </a:solidFill>
                <a:latin typeface="Aptos"/>
              </a:defRPr>
            </a:pPr>
            <a:r>
              <a:t>Live metric trend charts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" y="4892040"/>
            <a:ext cx="5349240" cy="868680"/>
          </a:xfrm>
          <a:prstGeom prst="roundRect">
            <a:avLst/>
          </a:prstGeom>
          <a:solidFill>
            <a:srgbClr val="172743"/>
          </a:solidFill>
          <a:ln>
            <a:solidFill>
              <a:srgbClr val="2A3C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40080" y="5001768"/>
            <a:ext cx="50292" cy="649224"/>
          </a:xfrm>
          <a:prstGeom prst="rect">
            <a:avLst/>
          </a:prstGeom>
          <a:solidFill>
            <a:srgbClr val="64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41247" y="5056631"/>
            <a:ext cx="4983479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  <a:defRPr sz="1500" b="1">
                <a:solidFill>
                  <a:srgbClr val="64A0FF"/>
                </a:solidFill>
                <a:latin typeface="Aptos"/>
              </a:defRPr>
            </a:pPr>
            <a:r>
              <a:t>CSV + JSON Lines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1247" y="5513831"/>
            <a:ext cx="4965192" cy="15544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  <a:defRPr sz="1100" b="0">
                <a:solidFill>
                  <a:srgbClr val="F5F8FF"/>
                </a:solidFill>
                <a:latin typeface="Aptos"/>
              </a:defRPr>
            </a:pPr>
            <a:r>
              <a:t>Persistent metric and alert logs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355080" y="4892040"/>
            <a:ext cx="5349240" cy="868680"/>
          </a:xfrm>
          <a:prstGeom prst="roundRect">
            <a:avLst/>
          </a:prstGeom>
          <a:solidFill>
            <a:srgbClr val="172743"/>
          </a:solidFill>
          <a:ln>
            <a:solidFill>
              <a:srgbClr val="2A3C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355080" y="5001768"/>
            <a:ext cx="50292" cy="649224"/>
          </a:xfrm>
          <a:prstGeom prst="rect">
            <a:avLst/>
          </a:prstGeom>
          <a:solidFill>
            <a:srgbClr val="FFC2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56248" y="5056631"/>
            <a:ext cx="4983479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  <a:defRPr sz="1500" b="1">
                <a:solidFill>
                  <a:srgbClr val="FFC247"/>
                </a:solidFill>
                <a:latin typeface="Aptos"/>
              </a:defRPr>
            </a:pPr>
            <a:r>
              <a:t>unittest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56248" y="5513831"/>
            <a:ext cx="4965192" cy="15544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  <a:defRPr sz="1100" b="0">
                <a:solidFill>
                  <a:srgbClr val="F5F8FF"/>
                </a:solidFill>
                <a:latin typeface="Aptos"/>
              </a:defRPr>
            </a:pPr>
            <a:r>
              <a:t>Automated tests for alert-engine behavior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8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  <a:defRPr sz="2800" b="1">
                <a:solidFill>
                  <a:srgbClr val="F5F8FF"/>
                </a:solidFill>
                <a:latin typeface="Aptos"/>
              </a:defRPr>
            </a:pPr>
            <a:r>
              <a:t>06  Testing Strategy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32688"/>
            <a:ext cx="914400" cy="50292"/>
          </a:xfrm>
          <a:prstGeom prst="rect">
            <a:avLst/>
          </a:prstGeom>
          <a:solidFill>
            <a:srgbClr val="2AD3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051560"/>
            <a:ext cx="10972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  <a:defRPr sz="1200" b="0">
                <a:solidFill>
                  <a:srgbClr val="B7C5DC"/>
                </a:solidFill>
                <a:latin typeface="Aptos"/>
              </a:defRPr>
            </a:pPr>
            <a:r>
              <a:t>Test cases included in the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73952"/>
            <a:ext cx="4114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700"/>
              </a:spcAft>
              <a:defRPr sz="1000" b="0">
                <a:solidFill>
                  <a:srgbClr val="B7C5DC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691640"/>
            <a:ext cx="66751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F5F8FF"/>
                </a:solidFill>
                <a:latin typeface="Aptos"/>
              </a:defRPr>
            </a:pPr>
            <a:r>
              <a:t>•  Below-threshold values should not create alerts.</a:t>
            </a:r>
          </a:p>
          <a:p>
            <a:pPr>
              <a:spcAft>
                <a:spcPts val="1200"/>
              </a:spcAft>
              <a:defRPr sz="1700">
                <a:solidFill>
                  <a:srgbClr val="F5F8FF"/>
                </a:solidFill>
                <a:latin typeface="Aptos"/>
              </a:defRPr>
            </a:pPr>
            <a:r>
              <a:t>•  Warning and critical thresholds should trigger the correct level.</a:t>
            </a:r>
          </a:p>
          <a:p>
            <a:pPr>
              <a:spcAft>
                <a:spcPts val="1200"/>
              </a:spcAft>
              <a:defRPr sz="1700">
                <a:solidFill>
                  <a:srgbClr val="F5F8FF"/>
                </a:solidFill>
                <a:latin typeface="Aptos"/>
              </a:defRPr>
            </a:pPr>
            <a:r>
              <a:t>•  Escalation and resolution should update alert state correctly.</a:t>
            </a:r>
          </a:p>
          <a:p>
            <a:pPr>
              <a:spcAft>
                <a:spcPts val="1200"/>
              </a:spcAft>
              <a:defRPr sz="1700">
                <a:solidFill>
                  <a:srgbClr val="F5F8FF"/>
                </a:solidFill>
                <a:latin typeface="Aptos"/>
              </a:defRPr>
            </a:pPr>
            <a:r>
              <a:t>•  Consecutive-sample checks help filter short spikes.</a:t>
            </a:r>
          </a:p>
          <a:p>
            <a:pPr>
              <a:spcAft>
                <a:spcPts val="1200"/>
              </a:spcAft>
              <a:defRPr sz="1700">
                <a:solidFill>
                  <a:srgbClr val="F5F8FF"/>
                </a:solidFill>
                <a:latin typeface="Aptos"/>
              </a:defRPr>
            </a:pPr>
            <a:r>
              <a:t>•  Cooldown prevents repeated notifications too frequently.</a:t>
            </a:r>
          </a:p>
          <a:p>
            <a:pPr>
              <a:spcAft>
                <a:spcPts val="1200"/>
              </a:spcAft>
              <a:defRPr sz="1700">
                <a:solidFill>
                  <a:srgbClr val="F5F8FF"/>
                </a:solidFill>
                <a:latin typeface="Aptos"/>
              </a:defRPr>
            </a:pPr>
            <a:r>
              <a:t>•  Wildcard rules support disk paths; active alerts are tracked.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18120" y="1828800"/>
            <a:ext cx="3566160" cy="1508760"/>
          </a:xfrm>
          <a:prstGeom prst="roundRect">
            <a:avLst/>
          </a:prstGeom>
          <a:solidFill>
            <a:srgbClr val="172743"/>
          </a:solidFill>
          <a:ln>
            <a:solidFill>
              <a:srgbClr val="2A3C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818120" y="1938528"/>
            <a:ext cx="50292" cy="1289304"/>
          </a:xfrm>
          <a:prstGeom prst="rect">
            <a:avLst/>
          </a:prstGeom>
          <a:solidFill>
            <a:srgbClr val="2AD3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19288" y="1993392"/>
            <a:ext cx="32004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  <a:defRPr sz="1700" b="1">
                <a:solidFill>
                  <a:srgbClr val="2AD3B0"/>
                </a:solidFill>
                <a:latin typeface="Aptos"/>
              </a:defRPr>
            </a:pPr>
            <a:r>
              <a:t>Automated tests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19288" y="2450592"/>
            <a:ext cx="3182112" cy="79552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  <a:defRPr sz="1400" b="0">
                <a:solidFill>
                  <a:srgbClr val="F5F8FF"/>
                </a:solidFill>
                <a:latin typeface="Aptos"/>
              </a:defRPr>
            </a:pPr>
            <a:r>
              <a:t>The repository includes 12 unit tests for alert-engine behavior.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18120" y="3657600"/>
            <a:ext cx="3566160" cy="1508760"/>
          </a:xfrm>
          <a:prstGeom prst="roundRect">
            <a:avLst/>
          </a:prstGeom>
          <a:solidFill>
            <a:srgbClr val="172743"/>
          </a:solidFill>
          <a:ln>
            <a:solidFill>
              <a:srgbClr val="2A3C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818120" y="3767328"/>
            <a:ext cx="50292" cy="1289304"/>
          </a:xfrm>
          <a:prstGeom prst="rect">
            <a:avLst/>
          </a:prstGeom>
          <a:solidFill>
            <a:srgbClr val="FFC2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19288" y="3822191"/>
            <a:ext cx="32004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  <a:defRPr sz="1700" b="1">
                <a:solidFill>
                  <a:srgbClr val="FFC247"/>
                </a:solidFill>
                <a:latin typeface="Aptos"/>
              </a:defRPr>
            </a:pPr>
            <a:r>
              <a:t>Demo testing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19288" y="4279392"/>
            <a:ext cx="3182112" cy="79552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  <a:defRPr sz="1400" b="0">
                <a:solidFill>
                  <a:srgbClr val="F5F8FF"/>
                </a:solidFill>
                <a:latin typeface="Aptos"/>
              </a:defRPr>
            </a:pPr>
            <a:r>
              <a:t>A controlled stress-test script can generate temporary CPU or memory load.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5989320"/>
            <a:ext cx="10515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  <a:defRPr sz="1100" b="0">
                <a:solidFill>
                  <a:srgbClr val="B7C5DC"/>
                </a:solidFill>
                <a:latin typeface="Aptos"/>
              </a:defRPr>
            </a:pPr>
            <a:r>
              <a:t>Note: Run the test suite and frontend build on the target machine before presenting measured pass/fail results.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8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  <a:defRPr sz="2800" b="1">
                <a:solidFill>
                  <a:srgbClr val="F5F8FF"/>
                </a:solidFill>
                <a:latin typeface="Aptos"/>
              </a:defRPr>
            </a:pPr>
            <a:r>
              <a:t>07  Results &amp; Outputs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32688"/>
            <a:ext cx="914400" cy="50292"/>
          </a:xfrm>
          <a:prstGeom prst="rect">
            <a:avLst/>
          </a:prstGeom>
          <a:solidFill>
            <a:srgbClr val="2AD3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051560"/>
            <a:ext cx="10972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  <a:defRPr sz="1200" b="0">
                <a:solidFill>
                  <a:srgbClr val="B7C5DC"/>
                </a:solidFill>
                <a:latin typeface="Aptos"/>
              </a:defRPr>
            </a:pPr>
            <a:r>
              <a:t>What the implemented system provides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73952"/>
            <a:ext cx="4114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700"/>
              </a:spcAft>
              <a:defRPr sz="1000" b="0">
                <a:solidFill>
                  <a:srgbClr val="B7C5DC"/>
                </a:solidFill>
                <a:latin typeface="Aptos"/>
              </a:defRPr>
            </a:pPr>
            <a:r>
              <a:t>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37360"/>
            <a:ext cx="3520440" cy="1645920"/>
          </a:xfrm>
          <a:prstGeom prst="roundRect">
            <a:avLst/>
          </a:prstGeom>
          <a:solidFill>
            <a:srgbClr val="172743"/>
          </a:solidFill>
          <a:ln>
            <a:solidFill>
              <a:srgbClr val="2A3C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847088"/>
            <a:ext cx="50292" cy="1426464"/>
          </a:xfrm>
          <a:prstGeom prst="rect">
            <a:avLst/>
          </a:prstGeom>
          <a:solidFill>
            <a:srgbClr val="2AD3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1901952"/>
            <a:ext cx="31546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  <a:defRPr sz="1700" b="1">
                <a:solidFill>
                  <a:srgbClr val="2AD3B0"/>
                </a:solidFill>
                <a:latin typeface="Aptos"/>
              </a:defRPr>
            </a:pPr>
            <a:r>
              <a:t>Live metrics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2359152"/>
            <a:ext cx="3136392" cy="9326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  <a:defRPr sz="1400" b="0">
                <a:solidFill>
                  <a:srgbClr val="F5F8FF"/>
                </a:solidFill>
                <a:latin typeface="Aptos"/>
              </a:defRPr>
            </a:pPr>
            <a:r>
              <a:t>Current CPU, RAM, swap, disk and process statistics.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737360"/>
            <a:ext cx="3520440" cy="1645920"/>
          </a:xfrm>
          <a:prstGeom prst="roundRect">
            <a:avLst/>
          </a:prstGeom>
          <a:solidFill>
            <a:srgbClr val="172743"/>
          </a:solidFill>
          <a:ln>
            <a:solidFill>
              <a:srgbClr val="2A3C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43400" y="1847088"/>
            <a:ext cx="50292" cy="1426464"/>
          </a:xfrm>
          <a:prstGeom prst="rect">
            <a:avLst/>
          </a:prstGeom>
          <a:solidFill>
            <a:srgbClr val="FFC2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44568" y="1901952"/>
            <a:ext cx="31546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  <a:defRPr sz="1700" b="1">
                <a:solidFill>
                  <a:srgbClr val="FFC247"/>
                </a:solidFill>
                <a:latin typeface="Aptos"/>
              </a:defRPr>
            </a:pPr>
            <a:r>
              <a:t>Useful alerts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44568" y="2359152"/>
            <a:ext cx="3136392" cy="9326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  <a:defRPr sz="1400" b="0">
                <a:solidFill>
                  <a:srgbClr val="F5F8FF"/>
                </a:solidFill>
                <a:latin typeface="Aptos"/>
              </a:defRPr>
            </a:pPr>
            <a:r>
              <a:t>WARNING / CRITICAL states, escalation, reminders and resolution.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737360"/>
            <a:ext cx="3520440" cy="1645920"/>
          </a:xfrm>
          <a:prstGeom prst="roundRect">
            <a:avLst/>
          </a:prstGeom>
          <a:solidFill>
            <a:srgbClr val="172743"/>
          </a:solidFill>
          <a:ln>
            <a:solidFill>
              <a:srgbClr val="2A3C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46720" y="1847088"/>
            <a:ext cx="50292" cy="1426464"/>
          </a:xfrm>
          <a:prstGeom prst="rect">
            <a:avLst/>
          </a:prstGeom>
          <a:solidFill>
            <a:srgbClr val="64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47888" y="1901952"/>
            <a:ext cx="31546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  <a:defRPr sz="1700" b="1">
                <a:solidFill>
                  <a:srgbClr val="64A0FF"/>
                </a:solidFill>
                <a:latin typeface="Aptos"/>
              </a:defRPr>
            </a:pPr>
            <a:r>
              <a:t>Trend visibility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47888" y="2359152"/>
            <a:ext cx="3136392" cy="9326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  <a:defRPr sz="1400" b="0">
                <a:solidFill>
                  <a:srgbClr val="F5F8FF"/>
                </a:solidFill>
                <a:latin typeface="Aptos"/>
              </a:defRPr>
            </a:pPr>
            <a:r>
              <a:t>Charts display metric history and break lines when samples are missing.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3977639"/>
            <a:ext cx="10424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  <a:defRPr sz="1900" b="1">
                <a:solidFill>
                  <a:srgbClr val="2AD3B0"/>
                </a:solidFill>
                <a:latin typeface="Aptos"/>
              </a:defRPr>
            </a:pPr>
            <a:r>
              <a:t>How to demonstrate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480560"/>
            <a:ext cx="1033272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F5F8FF"/>
                </a:solidFill>
                <a:latin typeface="Aptos"/>
              </a:defRPr>
            </a:pPr>
            <a:r>
              <a:t>•  Start the API and web dashboard; show live status and charts.</a:t>
            </a:r>
          </a:p>
          <a:p>
            <a:pPr>
              <a:spcAft>
                <a:spcPts val="800"/>
              </a:spcAft>
              <a:defRPr sz="1500">
                <a:solidFill>
                  <a:srgbClr val="F5F8FF"/>
                </a:solidFill>
                <a:latin typeface="Aptos"/>
              </a:defRPr>
            </a:pPr>
            <a:r>
              <a:t>•  Use the demo configuration and controlled stress test to demonstrate an alert.</a:t>
            </a:r>
          </a:p>
          <a:p>
            <a:pPr>
              <a:spcAft>
                <a:spcPts val="800"/>
              </a:spcAft>
              <a:defRPr sz="1500">
                <a:solidFill>
                  <a:srgbClr val="F5F8FF"/>
                </a:solidFill>
                <a:latin typeface="Aptos"/>
              </a:defRPr>
            </a:pPr>
            <a:r>
              <a:t>•  Show alert history and saved metrics; avoid claiming performance numbers unless measured.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8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  <a:defRPr sz="2800" b="1">
                <a:solidFill>
                  <a:srgbClr val="F5F8FF"/>
                </a:solidFill>
                <a:latin typeface="Aptos"/>
              </a:defRPr>
            </a:pPr>
            <a:r>
              <a:t>08  Impact &amp; Future Scope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32688"/>
            <a:ext cx="914400" cy="50292"/>
          </a:xfrm>
          <a:prstGeom prst="rect">
            <a:avLst/>
          </a:prstGeom>
          <a:solidFill>
            <a:srgbClr val="2AD3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051560"/>
            <a:ext cx="10972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  <a:defRPr sz="1200" b="0">
                <a:solidFill>
                  <a:srgbClr val="B7C5DC"/>
                </a:solidFill>
                <a:latin typeface="Aptos"/>
              </a:defRPr>
            </a:pPr>
            <a:r>
              <a:t>Value to users and possible improvements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73952"/>
            <a:ext cx="4114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700"/>
              </a:spcAft>
              <a:defRPr sz="1000" b="0">
                <a:solidFill>
                  <a:srgbClr val="B7C5DC"/>
                </a:solidFill>
                <a:latin typeface="Aptos"/>
              </a:defRPr>
            </a:pPr>
            <a:r>
              <a:t>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737360"/>
            <a:ext cx="5257800" cy="1828800"/>
          </a:xfrm>
          <a:prstGeom prst="roundRect">
            <a:avLst/>
          </a:prstGeom>
          <a:solidFill>
            <a:srgbClr val="172743"/>
          </a:solidFill>
          <a:ln>
            <a:solidFill>
              <a:srgbClr val="2A3C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847088"/>
            <a:ext cx="50292" cy="1609344"/>
          </a:xfrm>
          <a:prstGeom prst="rect">
            <a:avLst/>
          </a:prstGeom>
          <a:solidFill>
            <a:srgbClr val="2AD3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1901952"/>
            <a:ext cx="48920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  <a:defRPr sz="1800" b="1">
                <a:solidFill>
                  <a:srgbClr val="2AD3B0"/>
                </a:solidFill>
                <a:latin typeface="Aptos"/>
              </a:defRPr>
            </a:pPr>
            <a:r>
              <a:t>Impact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359152"/>
            <a:ext cx="4873752" cy="11155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  <a:defRPr sz="1500" b="0">
                <a:solidFill>
                  <a:srgbClr val="F5F8FF"/>
                </a:solidFill>
                <a:latin typeface="Aptos"/>
              </a:defRPr>
            </a:pPr>
            <a:r>
              <a:t>• Faster visibility into resource pressure</a:t>
            </a:r>
          </a:p>
          <a:p>
            <a:pPr algn="l">
              <a:spcAft>
                <a:spcPts val="700"/>
              </a:spcAft>
              <a:defRPr sz="1500" b="0">
                <a:solidFill>
                  <a:srgbClr val="F5F8FF"/>
                </a:solidFill>
                <a:latin typeface="Aptos"/>
              </a:defRPr>
            </a:pPr>
            <a:r>
              <a:t>• Easier identification of heavy processes</a:t>
            </a:r>
          </a:p>
          <a:p>
            <a:pPr algn="l">
              <a:spcAft>
                <a:spcPts val="700"/>
              </a:spcAft>
              <a:defRPr sz="1500" b="0">
                <a:solidFill>
                  <a:srgbClr val="F5F8FF"/>
                </a:solidFill>
                <a:latin typeface="Aptos"/>
              </a:defRPr>
            </a:pPr>
            <a:r>
              <a:t>• Historical data supports troubleshooting</a:t>
            </a:r>
          </a:p>
          <a:p>
            <a:pPr algn="l">
              <a:spcAft>
                <a:spcPts val="700"/>
              </a:spcAft>
              <a:defRPr sz="1500" b="0">
                <a:solidFill>
                  <a:srgbClr val="F5F8FF"/>
                </a:solidFill>
                <a:latin typeface="Aptos"/>
              </a:defRPr>
            </a:pPr>
            <a:r>
              <a:t>• Configurable thresholds fit different systems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737360"/>
            <a:ext cx="5257800" cy="1828800"/>
          </a:xfrm>
          <a:prstGeom prst="roundRect">
            <a:avLst/>
          </a:prstGeom>
          <a:solidFill>
            <a:srgbClr val="172743"/>
          </a:solidFill>
          <a:ln>
            <a:solidFill>
              <a:srgbClr val="2A3C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847088"/>
            <a:ext cx="50292" cy="1609344"/>
          </a:xfrm>
          <a:prstGeom prst="rect">
            <a:avLst/>
          </a:prstGeom>
          <a:solidFill>
            <a:srgbClr val="64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19088" y="1901952"/>
            <a:ext cx="48920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  <a:defRPr sz="1800" b="1">
                <a:solidFill>
                  <a:srgbClr val="64A0FF"/>
                </a:solidFill>
                <a:latin typeface="Aptos"/>
              </a:defRPr>
            </a:pPr>
            <a:r>
              <a:t>Future enhancements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19088" y="2359152"/>
            <a:ext cx="4873752" cy="11155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  <a:defRPr sz="1500" b="0">
                <a:solidFill>
                  <a:srgbClr val="F5F8FF"/>
                </a:solidFill>
                <a:latin typeface="Aptos"/>
              </a:defRPr>
            </a:pPr>
            <a:r>
              <a:t>• Authentication and role-based access</a:t>
            </a:r>
          </a:p>
          <a:p>
            <a:pPr algn="l">
              <a:spcAft>
                <a:spcPts val="700"/>
              </a:spcAft>
              <a:defRPr sz="1500" b="0">
                <a:solidFill>
                  <a:srgbClr val="F5F8FF"/>
                </a:solidFill>
                <a:latin typeface="Aptos"/>
              </a:defRPr>
            </a:pPr>
            <a:r>
              <a:t>• Remote host monitoring</a:t>
            </a:r>
          </a:p>
          <a:p>
            <a:pPr algn="l">
              <a:spcAft>
                <a:spcPts val="700"/>
              </a:spcAft>
              <a:defRPr sz="1500" b="0">
                <a:solidFill>
                  <a:srgbClr val="F5F8FF"/>
                </a:solidFill>
                <a:latin typeface="Aptos"/>
              </a:defRPr>
            </a:pPr>
            <a:r>
              <a:t>• More notification channels</a:t>
            </a:r>
          </a:p>
          <a:p>
            <a:pPr algn="l">
              <a:spcAft>
                <a:spcPts val="700"/>
              </a:spcAft>
              <a:defRPr sz="1500" b="0">
                <a:solidFill>
                  <a:srgbClr val="F5F8FF"/>
                </a:solidFill>
                <a:latin typeface="Aptos"/>
              </a:defRPr>
            </a:pPr>
            <a:r>
              <a:t>• Exportable reports and longer-term analytics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251960"/>
            <a:ext cx="106070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  <a:defRPr sz="2000" b="1">
                <a:solidFill>
                  <a:srgbClr val="2AD3B0"/>
                </a:solidFill>
                <a:latin typeface="Aptos"/>
              </a:defRPr>
            </a:pPr>
            <a:r>
              <a:t>Conclusion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709160"/>
            <a:ext cx="102412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  <a:defRPr sz="2100" b="0">
                <a:solidFill>
                  <a:srgbClr val="F5F8FF"/>
                </a:solidFill>
                <a:latin typeface="Aptos"/>
              </a:defRPr>
            </a:pPr>
            <a:r>
              <a:t>SysAlert combines automatic resource collection, rule-based alerting, logging and a live dashboard to make system health easier to monitor and understand.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8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55448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700"/>
              </a:spcAft>
              <a:defRPr sz="4000" b="1">
                <a:solidFill>
                  <a:srgbClr val="F5F8FF"/>
                </a:solidFill>
                <a:latin typeface="Aptos"/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560320"/>
            <a:ext cx="94183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700"/>
              </a:spcAft>
              <a:defRPr sz="2000" b="1">
                <a:solidFill>
                  <a:srgbClr val="2AD3B0"/>
                </a:solidFill>
                <a:latin typeface="Aptos"/>
              </a:defRPr>
            </a:pPr>
            <a:r>
              <a:t>SysAlert — System Resource Alert &amp; Notification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657600"/>
            <a:ext cx="85039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700"/>
              </a:spcAft>
              <a:defRPr sz="2600" b="0">
                <a:solidFill>
                  <a:srgbClr val="B7C5DC"/>
                </a:solidFill>
                <a:latin typeface="Aptos"/>
              </a:defRPr>
            </a:pPr>
            <a:r>
              <a:t>Questions?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63640"/>
            <a:ext cx="10789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700"/>
              </a:spcAft>
              <a:defRPr sz="1000" b="0">
                <a:solidFill>
                  <a:srgbClr val="B7C5DC"/>
                </a:solidFill>
                <a:latin typeface="Aptos"/>
              </a:defRPr>
            </a:pPr>
            <a:r>
              <a:t>Project presentation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